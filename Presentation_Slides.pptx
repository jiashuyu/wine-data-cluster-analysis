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Montserrat"/>
      <p:regular r:id="rId36"/>
      <p:bold r:id="rId37"/>
      <p:italic r:id="rId38"/>
      <p:boldItalic r:id="rId39"/>
    </p:embeddedFont>
    <p:embeddedFont>
      <p:font typeface="La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F12AA7-5ED4-42AE-AE4E-8AD1302240D3}">
  <a:tblStyle styleId="{35F12AA7-5ED4-42AE-AE4E-8AD1302240D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4.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La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0f96771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0f967711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0f967711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0f967711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b126772a63_0_1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b126772a63_0_1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b126772a63_0_1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b126772a63_0_1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126772a63_0_1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126772a63_0_1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b126772a63_0_1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b126772a63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b126772a63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b126772a63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a8ffbccee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a8ffbccee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a8ffbccee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a8ffbccee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a8ffbccee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a8ffbccee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b0f967711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b0f967711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b126772a63_0_1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b126772a63_0_1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a8ffbccee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a8ffbccee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0f967711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0f967711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126772a63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126772a63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a92da86d9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a92da86d9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b126772a63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b126772a63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b126772a63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b126772a63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a8ffbccee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a8ffbccee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b126772a63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b126772a63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a8ffbccee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a8ffbccee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b126772a63_0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b126772a63_0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b17ec49ce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b17ec49ce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b126772a63_0_1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b126772a63_0_1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b126772a63_0_1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b126772a63_0_1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b17ec49c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b17ec49c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a92da86d9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a92da86d9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b126772a63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b126772a63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8.png"/><Relationship Id="rId6"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www.ijitee.org/wp-content/uploads/papers/v9i7/G5943059720.pdf" TargetMode="External"/><Relationship Id="rId4" Type="http://schemas.openxmlformats.org/officeDocument/2006/relationships/hyperlink" Target="https://towardsdatascience.com/k-means-clustering-of-wine-data-95bac074baae" TargetMode="External"/><Relationship Id="rId5" Type="http://schemas.openxmlformats.org/officeDocument/2006/relationships/hyperlink" Target="https://www.cs.utexas.edu/~ml/papers/semi-icml-04.pdf"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084100" y="1587275"/>
            <a:ext cx="5772600" cy="1578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700"/>
              <a:t>STAT 430 Project Presentation</a:t>
            </a:r>
            <a:endParaRPr b="1" sz="2700"/>
          </a:p>
          <a:p>
            <a:pPr indent="0" lvl="0" marL="0" rtl="0" algn="l">
              <a:spcBef>
                <a:spcPts val="0"/>
              </a:spcBef>
              <a:spcAft>
                <a:spcPts val="0"/>
              </a:spcAft>
              <a:buNone/>
            </a:pPr>
            <a:r>
              <a:t/>
            </a:r>
            <a:endParaRPr sz="2700"/>
          </a:p>
          <a:p>
            <a:pPr indent="0" lvl="0" marL="0" rtl="0" algn="r">
              <a:spcBef>
                <a:spcPts val="0"/>
              </a:spcBef>
              <a:spcAft>
                <a:spcPts val="0"/>
              </a:spcAft>
              <a:buNone/>
            </a:pPr>
            <a:r>
              <a:rPr lang="en" sz="2500"/>
              <a:t>-- Wine Data Cluster Analysis</a:t>
            </a:r>
            <a:endParaRPr sz="2500"/>
          </a:p>
        </p:txBody>
      </p:sp>
      <p:sp>
        <p:nvSpPr>
          <p:cNvPr id="135" name="Google Shape;135;p13"/>
          <p:cNvSpPr txBox="1"/>
          <p:nvPr>
            <p:ph idx="1" type="subTitle"/>
          </p:nvPr>
        </p:nvSpPr>
        <p:spPr>
          <a:xfrm>
            <a:off x="3716850" y="3420650"/>
            <a:ext cx="4295400" cy="136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Team members: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Shuyu Jia, Zhehui Chen</a:t>
            </a:r>
            <a:endParaRPr sz="16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Content</a:t>
            </a:r>
            <a:endParaRPr b="1"/>
          </a:p>
        </p:txBody>
      </p:sp>
      <p:sp>
        <p:nvSpPr>
          <p:cNvPr id="141" name="Google Shape;141;p14"/>
          <p:cNvSpPr txBox="1"/>
          <p:nvPr>
            <p:ph idx="1" type="body"/>
          </p:nvPr>
        </p:nvSpPr>
        <p:spPr>
          <a:xfrm>
            <a:off x="1297500" y="1567550"/>
            <a:ext cx="34908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FFFF"/>
                </a:solidFill>
              </a:rPr>
              <a:t>1. Introduction and Dataset Info</a:t>
            </a:r>
            <a:endParaRPr b="1" sz="1600">
              <a:solidFill>
                <a:srgbClr val="00FFFF"/>
              </a:solidFill>
            </a:endParaRPr>
          </a:p>
          <a:p>
            <a:pPr indent="0" lvl="0" marL="0" rtl="0" algn="l">
              <a:spcBef>
                <a:spcPts val="1600"/>
              </a:spcBef>
              <a:spcAft>
                <a:spcPts val="0"/>
              </a:spcAft>
              <a:buNone/>
            </a:pPr>
            <a:r>
              <a:t/>
            </a:r>
            <a:endParaRPr b="1" sz="1600">
              <a:solidFill>
                <a:srgbClr val="00FFFF"/>
              </a:solidFill>
            </a:endParaRPr>
          </a:p>
          <a:p>
            <a:pPr indent="0" lvl="0" marL="0" rtl="0" algn="l">
              <a:spcBef>
                <a:spcPts val="1600"/>
              </a:spcBef>
              <a:spcAft>
                <a:spcPts val="0"/>
              </a:spcAft>
              <a:buNone/>
            </a:pPr>
            <a:r>
              <a:rPr b="1" lang="en" sz="1600">
                <a:solidFill>
                  <a:srgbClr val="00FFFF"/>
                </a:solidFill>
              </a:rPr>
              <a:t>2. Data Research</a:t>
            </a:r>
            <a:endParaRPr b="1" sz="1600">
              <a:solidFill>
                <a:srgbClr val="00FFFF"/>
              </a:solidFill>
            </a:endParaRPr>
          </a:p>
          <a:p>
            <a:pPr indent="0" lvl="0" marL="0" rtl="0" algn="l">
              <a:spcBef>
                <a:spcPts val="1600"/>
              </a:spcBef>
              <a:spcAft>
                <a:spcPts val="0"/>
              </a:spcAft>
              <a:buNone/>
            </a:pPr>
            <a:r>
              <a:t/>
            </a:r>
            <a:endParaRPr b="1" sz="1600"/>
          </a:p>
          <a:p>
            <a:pPr indent="0" lvl="0" marL="0" rtl="0" algn="l">
              <a:spcBef>
                <a:spcPts val="1600"/>
              </a:spcBef>
              <a:spcAft>
                <a:spcPts val="0"/>
              </a:spcAft>
              <a:buNone/>
            </a:pPr>
            <a:r>
              <a:rPr b="1" lang="en" sz="1600">
                <a:solidFill>
                  <a:srgbClr val="EA9999"/>
                </a:solidFill>
              </a:rPr>
              <a:t>3. </a:t>
            </a:r>
            <a:r>
              <a:rPr b="1" lang="en" sz="1600">
                <a:solidFill>
                  <a:srgbClr val="EA9999"/>
                </a:solidFill>
              </a:rPr>
              <a:t>Exploratory Data Analysis (EDA)</a:t>
            </a:r>
            <a:endParaRPr b="1" sz="1600">
              <a:solidFill>
                <a:srgbClr val="EA9999"/>
              </a:solidFill>
            </a:endParaRPr>
          </a:p>
          <a:p>
            <a:pPr indent="0" lvl="0" marL="0" rtl="0" algn="l">
              <a:spcBef>
                <a:spcPts val="1600"/>
              </a:spcBef>
              <a:spcAft>
                <a:spcPts val="0"/>
              </a:spcAft>
              <a:buNone/>
            </a:pPr>
            <a:r>
              <a:t/>
            </a:r>
            <a:endParaRPr b="1" sz="1600"/>
          </a:p>
          <a:p>
            <a:pPr indent="0" lvl="0" marL="0" rtl="0" algn="l">
              <a:spcBef>
                <a:spcPts val="1600"/>
              </a:spcBef>
              <a:spcAft>
                <a:spcPts val="1600"/>
              </a:spcAft>
              <a:buNone/>
            </a:pPr>
            <a:r>
              <a:rPr b="1" lang="en" sz="1600">
                <a:solidFill>
                  <a:srgbClr val="EA9999"/>
                </a:solidFill>
              </a:rPr>
              <a:t>4. Pre-analysis Questions</a:t>
            </a:r>
            <a:r>
              <a:rPr b="1" lang="en" sz="1600"/>
              <a:t> </a:t>
            </a:r>
            <a:endParaRPr b="1" sz="1600"/>
          </a:p>
        </p:txBody>
      </p:sp>
      <p:sp>
        <p:nvSpPr>
          <p:cNvPr id="142" name="Google Shape;142;p14"/>
          <p:cNvSpPr txBox="1"/>
          <p:nvPr>
            <p:ph idx="1" type="body"/>
          </p:nvPr>
        </p:nvSpPr>
        <p:spPr>
          <a:xfrm>
            <a:off x="4788300" y="1567550"/>
            <a:ext cx="34908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FFFF"/>
                </a:solidFill>
              </a:rPr>
              <a:t>5. Algorithm Selection Motivatio</a:t>
            </a:r>
            <a:r>
              <a:rPr b="1" lang="en" sz="1600">
                <a:solidFill>
                  <a:srgbClr val="00FFFF"/>
                </a:solidFill>
              </a:rPr>
              <a:t>n</a:t>
            </a:r>
            <a:endParaRPr b="1" sz="1600"/>
          </a:p>
          <a:p>
            <a:pPr indent="0" lvl="0" marL="0" rtl="0" algn="l">
              <a:spcBef>
                <a:spcPts val="1600"/>
              </a:spcBef>
              <a:spcAft>
                <a:spcPts val="0"/>
              </a:spcAft>
              <a:buNone/>
            </a:pPr>
            <a:r>
              <a:rPr b="1" lang="en" sz="1600"/>
              <a:t>6. Algorithm Results and Post-analysis Question </a:t>
            </a:r>
            <a:endParaRPr b="1" sz="1600"/>
          </a:p>
          <a:p>
            <a:pPr indent="0" lvl="0" marL="0" rtl="0" algn="l">
              <a:spcBef>
                <a:spcPts val="1600"/>
              </a:spcBef>
              <a:spcAft>
                <a:spcPts val="0"/>
              </a:spcAft>
              <a:buNone/>
            </a:pPr>
            <a:r>
              <a:rPr b="1" lang="en" sz="1600"/>
              <a:t>	</a:t>
            </a:r>
            <a:r>
              <a:rPr b="1" lang="en" sz="1600">
                <a:solidFill>
                  <a:srgbClr val="EA9999"/>
                </a:solidFill>
              </a:rPr>
              <a:t>K-means</a:t>
            </a:r>
            <a:endParaRPr b="1" sz="1600">
              <a:solidFill>
                <a:srgbClr val="EA9999"/>
              </a:solidFill>
            </a:endParaRPr>
          </a:p>
          <a:p>
            <a:pPr indent="0" lvl="0" marL="0" rtl="0" algn="l">
              <a:spcBef>
                <a:spcPts val="1600"/>
              </a:spcBef>
              <a:spcAft>
                <a:spcPts val="0"/>
              </a:spcAft>
              <a:buNone/>
            </a:pPr>
            <a:r>
              <a:rPr b="1" lang="en" sz="1600">
                <a:solidFill>
                  <a:srgbClr val="EA9999"/>
                </a:solidFill>
              </a:rPr>
              <a:t>	Hierarchical</a:t>
            </a:r>
            <a:endParaRPr b="1" sz="1600">
              <a:solidFill>
                <a:srgbClr val="EA9999"/>
              </a:solidFill>
            </a:endParaRPr>
          </a:p>
          <a:p>
            <a:pPr indent="0" lvl="0" marL="0" rtl="0" algn="l">
              <a:spcBef>
                <a:spcPts val="1600"/>
              </a:spcBef>
              <a:spcAft>
                <a:spcPts val="0"/>
              </a:spcAft>
              <a:buNone/>
            </a:pPr>
            <a:r>
              <a:rPr b="1" lang="en" sz="1600"/>
              <a:t>	</a:t>
            </a:r>
            <a:r>
              <a:rPr b="1" lang="en" sz="1600">
                <a:solidFill>
                  <a:srgbClr val="00FFFF"/>
                </a:solidFill>
              </a:rPr>
              <a:t>Fuzzy c-means</a:t>
            </a:r>
            <a:endParaRPr b="1" sz="1600">
              <a:solidFill>
                <a:srgbClr val="00FFFF"/>
              </a:solidFill>
            </a:endParaRPr>
          </a:p>
          <a:p>
            <a:pPr indent="0" lvl="0" marL="0" rtl="0" algn="l">
              <a:spcBef>
                <a:spcPts val="1600"/>
              </a:spcBef>
              <a:spcAft>
                <a:spcPts val="1600"/>
              </a:spcAft>
              <a:buNone/>
            </a:pPr>
            <a:r>
              <a:rPr b="1" lang="en" sz="1600">
                <a:solidFill>
                  <a:srgbClr val="00FFFF"/>
                </a:solidFill>
              </a:rPr>
              <a:t>7. </a:t>
            </a:r>
            <a:r>
              <a:rPr b="1" lang="en" sz="1600">
                <a:solidFill>
                  <a:srgbClr val="00FFFF"/>
                </a:solidFill>
              </a:rPr>
              <a:t> Analysis Summary</a:t>
            </a:r>
            <a:endParaRPr b="1" sz="1600">
              <a:solidFill>
                <a:srgbClr val="00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t/>
            </a:r>
            <a:endParaRPr/>
          </a:p>
        </p:txBody>
      </p:sp>
      <p:sp>
        <p:nvSpPr>
          <p:cNvPr id="148" name="Google Shape;148;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p>
          <a:p>
            <a:pPr indent="0" lvl="0" marL="0" rtl="0" algn="l">
              <a:spcBef>
                <a:spcPts val="1600"/>
              </a:spcBef>
              <a:spcAft>
                <a:spcPts val="0"/>
              </a:spcAft>
              <a:buNone/>
            </a:pPr>
            <a:r>
              <a:t/>
            </a:r>
            <a:endParaRPr b="1" sz="1600"/>
          </a:p>
          <a:p>
            <a:pPr indent="0" lvl="0" marL="0" rtl="0" algn="ctr">
              <a:spcBef>
                <a:spcPts val="1600"/>
              </a:spcBef>
              <a:spcAft>
                <a:spcPts val="1600"/>
              </a:spcAft>
              <a:buNone/>
            </a:pPr>
            <a:r>
              <a:rPr b="1" lang="en" sz="3100"/>
              <a:t>1. Introduction and Dataset</a:t>
            </a:r>
            <a:endParaRPr b="1" sz="3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Background</a:t>
            </a:r>
            <a:endParaRPr b="1"/>
          </a:p>
        </p:txBody>
      </p:sp>
      <p:sp>
        <p:nvSpPr>
          <p:cNvPr id="154" name="Google Shape;154;p16"/>
          <p:cNvSpPr txBox="1"/>
          <p:nvPr>
            <p:ph idx="1" type="body"/>
          </p:nvPr>
        </p:nvSpPr>
        <p:spPr>
          <a:xfrm>
            <a:off x="1297500" y="1305025"/>
            <a:ext cx="3477300" cy="29112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Wine Dataset</a:t>
            </a:r>
            <a:endParaRPr/>
          </a:p>
          <a:p>
            <a:pPr indent="0" lvl="0" marL="0" rtl="0" algn="l">
              <a:spcBef>
                <a:spcPts val="1600"/>
              </a:spcBef>
              <a:spcAft>
                <a:spcPts val="0"/>
              </a:spcAft>
              <a:buNone/>
            </a:pPr>
            <a:r>
              <a:rPr lang="en"/>
              <a:t>Sample size：</a:t>
            </a:r>
            <a:r>
              <a:rPr b="1" lang="en">
                <a:solidFill>
                  <a:srgbClr val="FFFF00"/>
                </a:solidFill>
              </a:rPr>
              <a:t>178</a:t>
            </a:r>
            <a:endParaRPr b="1">
              <a:solidFill>
                <a:srgbClr val="FFFF00"/>
              </a:solidFill>
            </a:endParaRPr>
          </a:p>
          <a:p>
            <a:pPr indent="0" lvl="0" marL="0" rtl="0" algn="l">
              <a:spcBef>
                <a:spcPts val="1600"/>
              </a:spcBef>
              <a:spcAft>
                <a:spcPts val="0"/>
              </a:spcAft>
              <a:buNone/>
            </a:pPr>
            <a:r>
              <a:rPr lang="en"/>
              <a:t>Labels：</a:t>
            </a:r>
            <a:r>
              <a:rPr b="1" lang="en">
                <a:solidFill>
                  <a:srgbClr val="FFFF00"/>
                </a:solidFill>
              </a:rPr>
              <a:t>three different classes</a:t>
            </a:r>
            <a:endParaRPr/>
          </a:p>
          <a:p>
            <a:pPr indent="0" lvl="0" marL="0" rtl="0" algn="l">
              <a:spcBef>
                <a:spcPts val="1600"/>
              </a:spcBef>
              <a:spcAft>
                <a:spcPts val="0"/>
              </a:spcAft>
              <a:buNone/>
            </a:pPr>
            <a:r>
              <a:rPr lang="en"/>
              <a:t>13 variables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55" name="Google Shape;155;p16"/>
          <p:cNvPicPr preferRelativeResize="0"/>
          <p:nvPr/>
        </p:nvPicPr>
        <p:blipFill>
          <a:blip r:embed="rId3">
            <a:alphaModFix/>
          </a:blip>
          <a:stretch>
            <a:fillRect/>
          </a:stretch>
        </p:blipFill>
        <p:spPr>
          <a:xfrm>
            <a:off x="4774800" y="1225075"/>
            <a:ext cx="3561726" cy="2067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3100"/>
          </a:p>
          <a:p>
            <a:pPr indent="0" lvl="0" marL="0" rtl="0" algn="ctr">
              <a:spcBef>
                <a:spcPts val="1600"/>
              </a:spcBef>
              <a:spcAft>
                <a:spcPts val="1600"/>
              </a:spcAft>
              <a:buNone/>
            </a:pPr>
            <a:r>
              <a:rPr b="1" lang="en" sz="3100"/>
              <a:t>2. Data Research</a:t>
            </a:r>
            <a:endParaRPr b="1" sz="3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Motivation</a:t>
            </a:r>
            <a:endParaRPr b="1"/>
          </a:p>
        </p:txBody>
      </p:sp>
      <p:sp>
        <p:nvSpPr>
          <p:cNvPr id="167" name="Google Shape;167;p18"/>
          <p:cNvSpPr txBox="1"/>
          <p:nvPr>
            <p:ph idx="1" type="body"/>
          </p:nvPr>
        </p:nvSpPr>
        <p:spPr>
          <a:xfrm>
            <a:off x="1297500" y="1307850"/>
            <a:ext cx="7038900" cy="321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 </a:t>
            </a:r>
            <a:r>
              <a:rPr lang="en" sz="1500"/>
              <a:t>visualized the clustering and predicted the classes (supervised)</a:t>
            </a:r>
            <a:endParaRPr sz="1500"/>
          </a:p>
          <a:p>
            <a:pPr indent="0" lvl="0" marL="0" rtl="0" algn="l">
              <a:spcBef>
                <a:spcPts val="1600"/>
              </a:spcBef>
              <a:spcAft>
                <a:spcPts val="0"/>
              </a:spcAft>
              <a:buNone/>
            </a:pPr>
            <a:r>
              <a:rPr lang="en" sz="1500"/>
              <a:t>✦</a:t>
            </a:r>
            <a:r>
              <a:rPr lang="en" sz="1500"/>
              <a:t> group similar observations together and determine the number of possible clusters (unsupervised)</a:t>
            </a:r>
            <a:endParaRPr sz="1500"/>
          </a:p>
          <a:p>
            <a:pPr indent="0" lvl="0" marL="0" rtl="0" algn="l">
              <a:spcBef>
                <a:spcPts val="1600"/>
              </a:spcBef>
              <a:spcAft>
                <a:spcPts val="0"/>
              </a:spcAft>
              <a:buNone/>
            </a:pPr>
            <a:r>
              <a:rPr lang="en" sz="1500"/>
              <a:t>✦ a new semi-supervised clustering algorithm </a:t>
            </a:r>
            <a:endParaRPr sz="1500"/>
          </a:p>
          <a:p>
            <a:pPr indent="457200" lvl="0" marL="0" rtl="0" algn="l">
              <a:spcBef>
                <a:spcPts val="1600"/>
              </a:spcBef>
              <a:spcAft>
                <a:spcPts val="0"/>
              </a:spcAft>
              <a:buNone/>
            </a:pPr>
            <a:r>
              <a:rPr lang="en" sz="1500"/>
              <a:t>constraint-based methods</a:t>
            </a:r>
            <a:endParaRPr sz="1500"/>
          </a:p>
          <a:p>
            <a:pPr indent="457200" lvl="0" marL="0" rtl="0" algn="l">
              <a:spcBef>
                <a:spcPts val="1600"/>
              </a:spcBef>
              <a:spcAft>
                <a:spcPts val="1600"/>
              </a:spcAft>
              <a:buNone/>
            </a:pPr>
            <a:r>
              <a:rPr lang="en" sz="1500"/>
              <a:t>distance-function learning methods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b="1" lang="en" sz="3100"/>
              <a:t>3. Exploratory Data Analysis (EDA)</a:t>
            </a:r>
            <a:endParaRPr b="1" sz="1600"/>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Continuous Features</a:t>
            </a:r>
            <a:endParaRPr b="1"/>
          </a:p>
        </p:txBody>
      </p:sp>
      <p:sp>
        <p:nvSpPr>
          <p:cNvPr id="179" name="Google Shape;179;p20"/>
          <p:cNvSpPr txBox="1"/>
          <p:nvPr>
            <p:ph idx="1" type="body"/>
          </p:nvPr>
        </p:nvSpPr>
        <p:spPr>
          <a:xfrm>
            <a:off x="6040800" y="1150025"/>
            <a:ext cx="2295600" cy="35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13 continuous variables </a:t>
            </a:r>
            <a:endParaRPr/>
          </a:p>
          <a:p>
            <a:pPr indent="0" lvl="0" marL="0" rtl="0" algn="l">
              <a:spcBef>
                <a:spcPts val="1600"/>
              </a:spcBef>
              <a:spcAft>
                <a:spcPts val="0"/>
              </a:spcAft>
              <a:buNone/>
            </a:pPr>
            <a:r>
              <a:rPr lang="en"/>
              <a:t>Normally distributed </a:t>
            </a:r>
            <a:endParaRPr/>
          </a:p>
          <a:p>
            <a:pPr indent="0" lvl="0" marL="0" rtl="0" algn="l">
              <a:spcBef>
                <a:spcPts val="1600"/>
              </a:spcBef>
              <a:spcAft>
                <a:spcPts val="1600"/>
              </a:spcAft>
              <a:buNone/>
            </a:pPr>
            <a:r>
              <a:rPr lang="en"/>
              <a:t>No significant outliers</a:t>
            </a:r>
            <a:endParaRPr/>
          </a:p>
        </p:txBody>
      </p:sp>
      <p:pic>
        <p:nvPicPr>
          <p:cNvPr id="180" name="Google Shape;180;p20"/>
          <p:cNvPicPr preferRelativeResize="0"/>
          <p:nvPr/>
        </p:nvPicPr>
        <p:blipFill>
          <a:blip r:embed="rId3">
            <a:alphaModFix/>
          </a:blip>
          <a:stretch>
            <a:fillRect/>
          </a:stretch>
        </p:blipFill>
        <p:spPr>
          <a:xfrm>
            <a:off x="1065400" y="1150025"/>
            <a:ext cx="4904275" cy="31828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Discrete Outcome</a:t>
            </a:r>
            <a:endParaRPr b="1"/>
          </a:p>
        </p:txBody>
      </p:sp>
      <p:sp>
        <p:nvSpPr>
          <p:cNvPr id="186" name="Google Shape;186;p21"/>
          <p:cNvSpPr txBox="1"/>
          <p:nvPr>
            <p:ph idx="1" type="body"/>
          </p:nvPr>
        </p:nvSpPr>
        <p:spPr>
          <a:xfrm>
            <a:off x="3693300" y="3899825"/>
            <a:ext cx="2247300" cy="3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Barplot for the class labels.</a:t>
            </a:r>
            <a:endParaRPr/>
          </a:p>
        </p:txBody>
      </p:sp>
      <p:pic>
        <p:nvPicPr>
          <p:cNvPr id="187" name="Google Shape;187;p21"/>
          <p:cNvPicPr preferRelativeResize="0"/>
          <p:nvPr/>
        </p:nvPicPr>
        <p:blipFill>
          <a:blip r:embed="rId3">
            <a:alphaModFix/>
          </a:blip>
          <a:stretch>
            <a:fillRect/>
          </a:stretch>
        </p:blipFill>
        <p:spPr>
          <a:xfrm>
            <a:off x="2916777" y="1100050"/>
            <a:ext cx="3800349" cy="264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Correlation Analysis</a:t>
            </a:r>
            <a:endParaRPr b="1"/>
          </a:p>
        </p:txBody>
      </p:sp>
      <p:sp>
        <p:nvSpPr>
          <p:cNvPr id="193" name="Google Shape;193;p22"/>
          <p:cNvSpPr txBox="1"/>
          <p:nvPr>
            <p:ph idx="1" type="body"/>
          </p:nvPr>
        </p:nvSpPr>
        <p:spPr>
          <a:xfrm>
            <a:off x="1297500" y="1567550"/>
            <a:ext cx="33717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heatmap for correlation analysis. </a:t>
            </a:r>
            <a:endParaRPr/>
          </a:p>
          <a:p>
            <a:pPr indent="0" lvl="0" marL="0" rtl="0" algn="l">
              <a:spcBef>
                <a:spcPts val="1600"/>
              </a:spcBef>
              <a:spcAft>
                <a:spcPts val="1600"/>
              </a:spcAft>
              <a:buNone/>
            </a:pPr>
            <a:r>
              <a:rPr lang="en"/>
              <a:t>There is </a:t>
            </a:r>
            <a:r>
              <a:rPr lang="en">
                <a:solidFill>
                  <a:srgbClr val="FFFF00"/>
                </a:solidFill>
              </a:rPr>
              <a:t>n</a:t>
            </a:r>
            <a:r>
              <a:rPr lang="en">
                <a:solidFill>
                  <a:srgbClr val="FFFF00"/>
                </a:solidFill>
              </a:rPr>
              <a:t>o</a:t>
            </a:r>
            <a:r>
              <a:rPr lang="en"/>
              <a:t> two variables that are strongly </a:t>
            </a:r>
            <a:r>
              <a:rPr lang="en">
                <a:solidFill>
                  <a:srgbClr val="FFFF00"/>
                </a:solidFill>
              </a:rPr>
              <a:t>correlated</a:t>
            </a:r>
            <a:r>
              <a:rPr lang="en"/>
              <a:t> to each other.</a:t>
            </a:r>
            <a:endParaRPr/>
          </a:p>
        </p:txBody>
      </p:sp>
      <p:pic>
        <p:nvPicPr>
          <p:cNvPr id="194" name="Google Shape;194;p22"/>
          <p:cNvPicPr preferRelativeResize="0"/>
          <p:nvPr/>
        </p:nvPicPr>
        <p:blipFill>
          <a:blip r:embed="rId3">
            <a:alphaModFix/>
          </a:blip>
          <a:stretch>
            <a:fillRect/>
          </a:stretch>
        </p:blipFill>
        <p:spPr>
          <a:xfrm>
            <a:off x="4873555" y="1567550"/>
            <a:ext cx="3667150" cy="3081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Data Scale</a:t>
            </a:r>
            <a:endParaRPr b="1"/>
          </a:p>
        </p:txBody>
      </p:sp>
      <p:sp>
        <p:nvSpPr>
          <p:cNvPr id="200" name="Google Shape;200;p23"/>
          <p:cNvSpPr txBox="1"/>
          <p:nvPr>
            <p:ph idx="1" type="body"/>
          </p:nvPr>
        </p:nvSpPr>
        <p:spPr>
          <a:xfrm>
            <a:off x="6209500" y="1243025"/>
            <a:ext cx="2420100" cy="13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R</a:t>
            </a:r>
            <a:r>
              <a:rPr lang="en"/>
              <a:t>ange of values.</a:t>
            </a:r>
            <a:endParaRPr/>
          </a:p>
          <a:p>
            <a:pPr indent="0" lvl="0" marL="0" rtl="0" algn="l">
              <a:spcBef>
                <a:spcPts val="1600"/>
              </a:spcBef>
              <a:spcAft>
                <a:spcPts val="1600"/>
              </a:spcAft>
              <a:buNone/>
            </a:pPr>
            <a:r>
              <a:rPr lang="en"/>
              <a:t>Should be normalized </a:t>
            </a:r>
            <a:endParaRPr/>
          </a:p>
        </p:txBody>
      </p:sp>
      <p:pic>
        <p:nvPicPr>
          <p:cNvPr id="201" name="Google Shape;201;p23"/>
          <p:cNvPicPr preferRelativeResize="0"/>
          <p:nvPr/>
        </p:nvPicPr>
        <p:blipFill>
          <a:blip r:embed="rId3">
            <a:alphaModFix/>
          </a:blip>
          <a:stretch>
            <a:fillRect/>
          </a:stretch>
        </p:blipFill>
        <p:spPr>
          <a:xfrm>
            <a:off x="1235350" y="1243027"/>
            <a:ext cx="4574399" cy="3160775"/>
          </a:xfrm>
          <a:prstGeom prst="rect">
            <a:avLst/>
          </a:prstGeom>
          <a:noFill/>
          <a:ln>
            <a:noFill/>
          </a:ln>
        </p:spPr>
      </p:pic>
      <p:sp>
        <p:nvSpPr>
          <p:cNvPr id="202" name="Google Shape;202;p23"/>
          <p:cNvSpPr/>
          <p:nvPr/>
        </p:nvSpPr>
        <p:spPr>
          <a:xfrm>
            <a:off x="1208150" y="3686625"/>
            <a:ext cx="4637100" cy="239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
          <p:cNvSpPr/>
          <p:nvPr/>
        </p:nvSpPr>
        <p:spPr>
          <a:xfrm>
            <a:off x="1208150" y="4164100"/>
            <a:ext cx="4637100" cy="239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3100"/>
          </a:p>
          <a:p>
            <a:pPr indent="0" lvl="0" marL="0" rtl="0" algn="ctr">
              <a:spcBef>
                <a:spcPts val="1600"/>
              </a:spcBef>
              <a:spcAft>
                <a:spcPts val="0"/>
              </a:spcAft>
              <a:buNone/>
            </a:pPr>
            <a:r>
              <a:rPr b="1" lang="en" sz="3100"/>
              <a:t>4. Pre-analysis Questions </a:t>
            </a:r>
            <a:endParaRPr b="1" sz="3100"/>
          </a:p>
          <a:p>
            <a:pPr indent="0" lvl="0" marL="0" rtl="0" algn="l">
              <a:spcBef>
                <a:spcPts val="1600"/>
              </a:spcBef>
              <a:spcAft>
                <a:spcPts val="1600"/>
              </a:spcAft>
              <a:buNone/>
            </a:pPr>
            <a:r>
              <a:t/>
            </a:r>
            <a:endParaRPr b="1" sz="3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Clusterability</a:t>
            </a:r>
            <a:endParaRPr b="1"/>
          </a:p>
        </p:txBody>
      </p:sp>
      <p:sp>
        <p:nvSpPr>
          <p:cNvPr id="215" name="Google Shape;215;p25"/>
          <p:cNvSpPr txBox="1"/>
          <p:nvPr>
            <p:ph idx="1" type="body"/>
          </p:nvPr>
        </p:nvSpPr>
        <p:spPr>
          <a:xfrm>
            <a:off x="1297500" y="1439125"/>
            <a:ext cx="7038900" cy="3420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arenR"/>
            </a:pPr>
            <a:r>
              <a:rPr lang="en"/>
              <a:t>Hopkins statistic</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	</a:t>
            </a:r>
            <a:endParaRPr/>
          </a:p>
          <a:p>
            <a:pPr indent="0" lvl="0" marL="0" rtl="0" algn="l">
              <a:spcBef>
                <a:spcPts val="1600"/>
              </a:spcBef>
              <a:spcAft>
                <a:spcPts val="0"/>
              </a:spcAft>
              <a:buNone/>
            </a:pPr>
            <a:r>
              <a:t/>
            </a:r>
            <a:endParaRPr>
              <a:solidFill>
                <a:srgbClr val="FFFFFF"/>
              </a:solidFill>
            </a:endParaRPr>
          </a:p>
          <a:p>
            <a:pPr indent="0" lvl="0" marL="457200" rtl="0" algn="l">
              <a:spcBef>
                <a:spcPts val="1600"/>
              </a:spcBef>
              <a:spcAft>
                <a:spcPts val="0"/>
              </a:spcAft>
              <a:buNone/>
            </a:pPr>
            <a:r>
              <a:t/>
            </a:r>
            <a:endParaRPr/>
          </a:p>
          <a:p>
            <a:pPr indent="0" lvl="0" marL="457200" rtl="0" algn="l">
              <a:spcBef>
                <a:spcPts val="1600"/>
              </a:spcBef>
              <a:spcAft>
                <a:spcPts val="1600"/>
              </a:spcAft>
              <a:buNone/>
            </a:pPr>
            <a:r>
              <a:t/>
            </a:r>
            <a:endParaRPr/>
          </a:p>
        </p:txBody>
      </p:sp>
      <p:pic>
        <p:nvPicPr>
          <p:cNvPr id="216" name="Google Shape;216;p25"/>
          <p:cNvPicPr preferRelativeResize="0"/>
          <p:nvPr/>
        </p:nvPicPr>
        <p:blipFill>
          <a:blip r:embed="rId3">
            <a:alphaModFix/>
          </a:blip>
          <a:stretch>
            <a:fillRect/>
          </a:stretch>
        </p:blipFill>
        <p:spPr>
          <a:xfrm>
            <a:off x="1565225" y="2273526"/>
            <a:ext cx="6503452" cy="126864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Clusterability</a:t>
            </a:r>
            <a:endParaRPr b="1"/>
          </a:p>
        </p:txBody>
      </p:sp>
      <p:sp>
        <p:nvSpPr>
          <p:cNvPr id="222" name="Google Shape;222;p26"/>
          <p:cNvSpPr txBox="1"/>
          <p:nvPr>
            <p:ph idx="1" type="body"/>
          </p:nvPr>
        </p:nvSpPr>
        <p:spPr>
          <a:xfrm>
            <a:off x="1297500" y="1439125"/>
            <a:ext cx="4521000" cy="3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t-SNE plot</a:t>
            </a:r>
            <a:endParaRPr/>
          </a:p>
          <a:p>
            <a:pPr indent="0" lvl="0" marL="0" rtl="0" algn="l">
              <a:spcBef>
                <a:spcPts val="1600"/>
              </a:spcBef>
              <a:spcAft>
                <a:spcPts val="0"/>
              </a:spcAft>
              <a:buNone/>
            </a:pPr>
            <a:r>
              <a:rPr lang="en"/>
              <a:t>1) Roughly </a:t>
            </a:r>
            <a:r>
              <a:rPr lang="en">
                <a:solidFill>
                  <a:srgbClr val="FFFF00"/>
                </a:solidFill>
              </a:rPr>
              <a:t>three point</a:t>
            </a:r>
            <a:r>
              <a:rPr lang="en"/>
              <a:t> clusters. </a:t>
            </a:r>
            <a:endParaRPr/>
          </a:p>
          <a:p>
            <a:pPr indent="0" lvl="0" marL="0" rtl="0" algn="l">
              <a:spcBef>
                <a:spcPts val="1100"/>
              </a:spcBef>
              <a:spcAft>
                <a:spcPts val="0"/>
              </a:spcAft>
              <a:buNone/>
            </a:pPr>
            <a:r>
              <a:rPr lang="en"/>
              <a:t>2) Each cluster has </a:t>
            </a:r>
            <a:r>
              <a:rPr lang="en">
                <a:solidFill>
                  <a:srgbClr val="FFFF00"/>
                </a:solidFill>
              </a:rPr>
              <a:t>spherical</a:t>
            </a:r>
            <a:r>
              <a:rPr lang="en"/>
              <a:t> shape.</a:t>
            </a:r>
            <a:endParaRPr/>
          </a:p>
          <a:p>
            <a:pPr indent="0" lvl="0" marL="0" rtl="0" algn="l">
              <a:spcBef>
                <a:spcPts val="1100"/>
              </a:spcBef>
              <a:spcAft>
                <a:spcPts val="0"/>
              </a:spcAft>
              <a:buNone/>
            </a:pPr>
            <a:r>
              <a:rPr lang="en"/>
              <a:t>3) Clusters have almost the </a:t>
            </a:r>
            <a:r>
              <a:rPr lang="en">
                <a:solidFill>
                  <a:srgbClr val="FFFF00"/>
                </a:solidFill>
              </a:rPr>
              <a:t>same size</a:t>
            </a:r>
            <a:r>
              <a:rPr lang="en"/>
              <a:t>.</a:t>
            </a:r>
            <a:endParaRPr/>
          </a:p>
          <a:p>
            <a:pPr indent="0" lvl="0" marL="0" rtl="0" algn="l">
              <a:spcBef>
                <a:spcPts val="1100"/>
              </a:spcBef>
              <a:spcAft>
                <a:spcPts val="0"/>
              </a:spcAft>
              <a:buNone/>
            </a:pPr>
            <a:r>
              <a:rPr lang="en"/>
              <a:t>4) S</a:t>
            </a:r>
            <a:r>
              <a:rPr lang="en"/>
              <a:t>ome overlaps, </a:t>
            </a:r>
            <a:r>
              <a:rPr lang="en">
                <a:solidFill>
                  <a:srgbClr val="FFFF00"/>
                </a:solidFill>
              </a:rPr>
              <a:t>not well separated</a:t>
            </a:r>
            <a:r>
              <a:rPr lang="en"/>
              <a:t>. </a:t>
            </a:r>
            <a:endParaRPr sz="105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223" name="Google Shape;223;p26"/>
          <p:cNvPicPr preferRelativeResize="0"/>
          <p:nvPr/>
        </p:nvPicPr>
        <p:blipFill>
          <a:blip r:embed="rId3">
            <a:alphaModFix/>
          </a:blip>
          <a:stretch>
            <a:fillRect/>
          </a:stretch>
        </p:blipFill>
        <p:spPr>
          <a:xfrm>
            <a:off x="5943574" y="1439123"/>
            <a:ext cx="2779949" cy="1953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3100"/>
          </a:p>
          <a:p>
            <a:pPr indent="0" lvl="0" marL="0" rtl="0" algn="ctr">
              <a:spcBef>
                <a:spcPts val="1600"/>
              </a:spcBef>
              <a:spcAft>
                <a:spcPts val="1600"/>
              </a:spcAft>
              <a:buNone/>
            </a:pPr>
            <a:r>
              <a:rPr b="1" lang="en" sz="3100"/>
              <a:t>5. Algorithm Selection Motivation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Motivations</a:t>
            </a:r>
            <a:endParaRPr b="1"/>
          </a:p>
        </p:txBody>
      </p:sp>
      <p:sp>
        <p:nvSpPr>
          <p:cNvPr id="235" name="Google Shape;235;p2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performs well in this dataset</a:t>
            </a:r>
            <a:endParaRPr/>
          </a:p>
          <a:p>
            <a:pPr indent="0" lvl="0" marL="0" rtl="0" algn="l">
              <a:spcBef>
                <a:spcPts val="700"/>
              </a:spcBef>
              <a:spcAft>
                <a:spcPts val="0"/>
              </a:spcAft>
              <a:buNone/>
            </a:pPr>
            <a:r>
              <a:rPr lang="en"/>
              <a:t>No two variables are strongly correlated with each other.</a:t>
            </a:r>
            <a:endParaRPr/>
          </a:p>
          <a:p>
            <a:pPr indent="0" lvl="0" marL="0" rtl="0" algn="l">
              <a:spcBef>
                <a:spcPts val="700"/>
              </a:spcBef>
              <a:spcAft>
                <a:spcPts val="0"/>
              </a:spcAft>
              <a:buNone/>
            </a:pPr>
            <a:r>
              <a:rPr lang="en"/>
              <a:t>3 underlying clusters;  spherical shape;  similar sizes;  decently separated</a:t>
            </a:r>
            <a:endParaRPr/>
          </a:p>
          <a:p>
            <a:pPr indent="0" lvl="0" marL="0" rtl="0" algn="l">
              <a:spcBef>
                <a:spcPts val="700"/>
              </a:spcBef>
              <a:spcAft>
                <a:spcPts val="0"/>
              </a:spcAft>
              <a:buNone/>
            </a:pPr>
            <a:r>
              <a:rPr lang="en"/>
              <a:t>All features are numerical.</a:t>
            </a:r>
            <a:endParaRPr/>
          </a:p>
          <a:p>
            <a:pPr indent="0" lvl="0" marL="0" rtl="0" algn="l">
              <a:spcBef>
                <a:spcPts val="700"/>
              </a:spcBef>
              <a:spcAft>
                <a:spcPts val="0"/>
              </a:spcAft>
              <a:buNone/>
            </a:pPr>
            <a:r>
              <a:rPr lang="en"/>
              <a:t>No significant outliers.</a:t>
            </a:r>
            <a:endParaRPr sz="1050">
              <a:solidFill>
                <a:srgbClr val="000000"/>
              </a:solidFill>
              <a:highlight>
                <a:srgbClr val="FFFFFF"/>
              </a:highlight>
              <a:latin typeface="Arial"/>
              <a:ea typeface="Arial"/>
              <a:cs typeface="Arial"/>
              <a:sym typeface="Arial"/>
            </a:endParaRPr>
          </a:p>
          <a:p>
            <a:pPr indent="0" lvl="0" marL="0" rtl="0" algn="l">
              <a:spcBef>
                <a:spcPts val="7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Algorithm Selection</a:t>
            </a:r>
            <a:endParaRPr/>
          </a:p>
        </p:txBody>
      </p:sp>
      <p:sp>
        <p:nvSpPr>
          <p:cNvPr id="241" name="Google Shape;241;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clustering</a:t>
            </a:r>
            <a:endParaRPr/>
          </a:p>
          <a:p>
            <a:pPr indent="0" lvl="0" marL="0" rtl="0" algn="l">
              <a:spcBef>
                <a:spcPts val="1600"/>
              </a:spcBef>
              <a:spcAft>
                <a:spcPts val="0"/>
              </a:spcAft>
              <a:buNone/>
            </a:pPr>
            <a:r>
              <a:rPr lang="en"/>
              <a:t>Agglomerative hierarchical clustering (“bottom-up” approach)</a:t>
            </a:r>
            <a:endParaRPr/>
          </a:p>
          <a:p>
            <a:pPr indent="0" lvl="0" marL="0" rtl="0" algn="l">
              <a:spcBef>
                <a:spcPts val="1600"/>
              </a:spcBef>
              <a:spcAft>
                <a:spcPts val="1600"/>
              </a:spcAft>
              <a:buNone/>
            </a:pPr>
            <a:r>
              <a:rPr lang="en"/>
              <a:t>Fuzzy c-means (membership scores)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3100"/>
          </a:p>
          <a:p>
            <a:pPr indent="0" lvl="0" marL="0" rtl="0" algn="ctr">
              <a:spcBef>
                <a:spcPts val="1600"/>
              </a:spcBef>
              <a:spcAft>
                <a:spcPts val="0"/>
              </a:spcAft>
              <a:buNone/>
            </a:pPr>
            <a:r>
              <a:rPr b="1" lang="en" sz="3100"/>
              <a:t>6. Algorithm Results and Post-analysis Question </a:t>
            </a:r>
            <a:endParaRPr b="1" sz="3100"/>
          </a:p>
          <a:p>
            <a:pPr indent="0" lvl="0" marL="0" rtl="0" algn="l">
              <a:spcBef>
                <a:spcPts val="1600"/>
              </a:spcBef>
              <a:spcAft>
                <a:spcPts val="1600"/>
              </a:spcAft>
              <a:buNone/>
            </a:pPr>
            <a:r>
              <a:t/>
            </a:r>
            <a:endParaRPr b="1" sz="3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K-Means Algorithm</a:t>
            </a:r>
            <a:endParaRPr b="1"/>
          </a:p>
        </p:txBody>
      </p:sp>
      <p:sp>
        <p:nvSpPr>
          <p:cNvPr id="253" name="Google Shape;253;p31"/>
          <p:cNvSpPr txBox="1"/>
          <p:nvPr>
            <p:ph idx="1" type="body"/>
          </p:nvPr>
        </p:nvSpPr>
        <p:spPr>
          <a:xfrm>
            <a:off x="1297500" y="1201325"/>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Parameter Setting (K)</a:t>
            </a:r>
            <a:endParaRPr/>
          </a:p>
          <a:p>
            <a:pPr indent="0" lvl="0" marL="0" rtl="0" algn="l">
              <a:spcBef>
                <a:spcPts val="1600"/>
              </a:spcBef>
              <a:spcAft>
                <a:spcPts val="0"/>
              </a:spcAft>
              <a:buNone/>
            </a:pPr>
            <a:r>
              <a:rPr lang="en"/>
              <a:t>Use the </a:t>
            </a:r>
            <a:r>
              <a:rPr lang="en">
                <a:solidFill>
                  <a:srgbClr val="FFFF00"/>
                </a:solidFill>
              </a:rPr>
              <a:t>elbow method</a:t>
            </a:r>
            <a:r>
              <a:rPr lang="en"/>
              <a:t> with the average </a:t>
            </a:r>
            <a:r>
              <a:rPr lang="en">
                <a:solidFill>
                  <a:srgbClr val="FFFF00"/>
                </a:solidFill>
              </a:rPr>
              <a:t>inertia</a:t>
            </a:r>
            <a:r>
              <a:rPr lang="en"/>
              <a:t> measurement.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254" name="Google Shape;254;p31"/>
          <p:cNvPicPr preferRelativeResize="0"/>
          <p:nvPr/>
        </p:nvPicPr>
        <p:blipFill>
          <a:blip r:embed="rId3">
            <a:alphaModFix/>
          </a:blip>
          <a:stretch>
            <a:fillRect/>
          </a:stretch>
        </p:blipFill>
        <p:spPr>
          <a:xfrm>
            <a:off x="3269274" y="2543787"/>
            <a:ext cx="2780350" cy="1934975"/>
          </a:xfrm>
          <a:prstGeom prst="rect">
            <a:avLst/>
          </a:prstGeom>
          <a:noFill/>
          <a:ln>
            <a:noFill/>
          </a:ln>
        </p:spPr>
      </p:pic>
      <p:sp>
        <p:nvSpPr>
          <p:cNvPr id="255" name="Google Shape;255;p31"/>
          <p:cNvSpPr/>
          <p:nvPr/>
        </p:nvSpPr>
        <p:spPr>
          <a:xfrm>
            <a:off x="6609250" y="1307850"/>
            <a:ext cx="1572300" cy="1270200"/>
          </a:xfrm>
          <a:prstGeom prst="wedgeRoundRectCallout">
            <a:avLst>
              <a:gd fmla="val -188987" name="adj1"/>
              <a:gd fmla="val 14077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Choose K=3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K-Means Algorithm</a:t>
            </a:r>
            <a:endParaRPr b="1"/>
          </a:p>
        </p:txBody>
      </p:sp>
      <p:sp>
        <p:nvSpPr>
          <p:cNvPr id="261" name="Google Shape;261;p32"/>
          <p:cNvSpPr txBox="1"/>
          <p:nvPr>
            <p:ph idx="1" type="body"/>
          </p:nvPr>
        </p:nvSpPr>
        <p:spPr>
          <a:xfrm>
            <a:off x="1199175" y="1207025"/>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Performance</a:t>
            </a:r>
            <a:endParaRPr/>
          </a:p>
          <a:p>
            <a:pPr indent="0" lvl="0" marL="0" rtl="0" algn="l">
              <a:spcBef>
                <a:spcPts val="1600"/>
              </a:spcBef>
              <a:spcAft>
                <a:spcPts val="1600"/>
              </a:spcAft>
              <a:buNone/>
            </a:pPr>
            <a:r>
              <a:t/>
            </a:r>
            <a:endParaRPr/>
          </a:p>
        </p:txBody>
      </p:sp>
      <p:pic>
        <p:nvPicPr>
          <p:cNvPr id="262" name="Google Shape;262;p32"/>
          <p:cNvPicPr preferRelativeResize="0"/>
          <p:nvPr/>
        </p:nvPicPr>
        <p:blipFill>
          <a:blip r:embed="rId3">
            <a:alphaModFix/>
          </a:blip>
          <a:stretch>
            <a:fillRect/>
          </a:stretch>
        </p:blipFill>
        <p:spPr>
          <a:xfrm>
            <a:off x="1199175" y="1842675"/>
            <a:ext cx="4047691" cy="2160149"/>
          </a:xfrm>
          <a:prstGeom prst="rect">
            <a:avLst/>
          </a:prstGeom>
          <a:noFill/>
          <a:ln>
            <a:noFill/>
          </a:ln>
        </p:spPr>
      </p:pic>
      <p:graphicFrame>
        <p:nvGraphicFramePr>
          <p:cNvPr id="263" name="Google Shape;263;p32"/>
          <p:cNvGraphicFramePr/>
          <p:nvPr/>
        </p:nvGraphicFramePr>
        <p:xfrm>
          <a:off x="5487625" y="1842675"/>
          <a:ext cx="3000000" cy="3000000"/>
        </p:xfrm>
        <a:graphic>
          <a:graphicData uri="http://schemas.openxmlformats.org/drawingml/2006/table">
            <a:tbl>
              <a:tblPr>
                <a:noFill/>
                <a:tableStyleId>{35F12AA7-5ED4-42AE-AE4E-8AD1302240D3}</a:tableStyleId>
              </a:tblPr>
              <a:tblGrid>
                <a:gridCol w="1974675"/>
                <a:gridCol w="1253625"/>
              </a:tblGrid>
              <a:tr h="381000">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silhouette_score</a:t>
                      </a:r>
                      <a:endParaRPr/>
                    </a:p>
                  </a:txBody>
                  <a:tcPr marT="91425" marB="91425" marR="91425" marL="91425"/>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0.285</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Adjusted Rand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0.897</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Homogeneity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0.879</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Completeness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0.873</a:t>
                      </a:r>
                      <a:endParaRPr sz="1300">
                        <a:solidFill>
                          <a:schemeClr val="lt1"/>
                        </a:solidFill>
                        <a:latin typeface="Lato"/>
                        <a:ea typeface="Lato"/>
                        <a:cs typeface="Lato"/>
                        <a:sym typeface="Lato"/>
                      </a:endParaRPr>
                    </a:p>
                  </a:txBody>
                  <a:tcPr marT="91425" marB="91425" marR="91425" marL="91425"/>
                </a:tc>
              </a:tr>
            </a:tbl>
          </a:graphicData>
        </a:graphic>
      </p:graphicFrame>
      <p:sp>
        <p:nvSpPr>
          <p:cNvPr id="264" name="Google Shape;264;p32"/>
          <p:cNvSpPr/>
          <p:nvPr/>
        </p:nvSpPr>
        <p:spPr>
          <a:xfrm>
            <a:off x="5101625" y="320025"/>
            <a:ext cx="1912200" cy="1270200"/>
          </a:xfrm>
          <a:prstGeom prst="wedgeRoundRectCallout">
            <a:avLst>
              <a:gd fmla="val 67561" name="adj1"/>
              <a:gd fmla="val 75106"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No strong cohesion</a:t>
            </a:r>
            <a:endParaRPr/>
          </a:p>
        </p:txBody>
      </p:sp>
      <p:sp>
        <p:nvSpPr>
          <p:cNvPr id="265" name="Google Shape;265;p32"/>
          <p:cNvSpPr/>
          <p:nvPr/>
        </p:nvSpPr>
        <p:spPr>
          <a:xfrm>
            <a:off x="5487625" y="3740925"/>
            <a:ext cx="1912200" cy="1270200"/>
          </a:xfrm>
          <a:prstGeom prst="wedgeRoundRectCallout">
            <a:avLst>
              <a:gd fmla="val 47375" name="adj1"/>
              <a:gd fmla="val -7488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Good cluster result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Hierarchical Clustering Algorithm</a:t>
            </a:r>
            <a:endParaRPr b="1"/>
          </a:p>
        </p:txBody>
      </p:sp>
      <p:sp>
        <p:nvSpPr>
          <p:cNvPr id="271" name="Google Shape;271;p33"/>
          <p:cNvSpPr txBox="1"/>
          <p:nvPr>
            <p:ph idx="1" type="body"/>
          </p:nvPr>
        </p:nvSpPr>
        <p:spPr>
          <a:xfrm>
            <a:off x="1297500" y="1018575"/>
            <a:ext cx="7038900" cy="75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K=3</a:t>
            </a:r>
            <a:endParaRPr/>
          </a:p>
          <a:p>
            <a:pPr indent="0" lvl="0" marL="0" rtl="0" algn="l">
              <a:lnSpc>
                <a:spcPct val="100000"/>
              </a:lnSpc>
              <a:spcBef>
                <a:spcPts val="1600"/>
              </a:spcBef>
              <a:spcAft>
                <a:spcPts val="0"/>
              </a:spcAft>
              <a:buNone/>
            </a:pPr>
            <a:r>
              <a:rPr lang="en"/>
              <a:t>D</a:t>
            </a:r>
            <a:r>
              <a:rPr lang="en"/>
              <a:t>istance between the newly formed clusters (linkage): complete, single, average, Ward</a:t>
            </a:r>
            <a:endParaRPr/>
          </a:p>
          <a:p>
            <a:pPr indent="0" lvl="0" marL="0" rtl="0" algn="l">
              <a:lnSpc>
                <a:spcPct val="100000"/>
              </a:lnSpc>
              <a:spcBef>
                <a:spcPts val="1600"/>
              </a:spcBef>
              <a:spcAft>
                <a:spcPts val="1600"/>
              </a:spcAft>
              <a:buNone/>
            </a:pPr>
            <a:r>
              <a:t/>
            </a:r>
            <a:endParaRPr/>
          </a:p>
        </p:txBody>
      </p:sp>
      <p:pic>
        <p:nvPicPr>
          <p:cNvPr id="272" name="Google Shape;272;p33"/>
          <p:cNvPicPr preferRelativeResize="0"/>
          <p:nvPr/>
        </p:nvPicPr>
        <p:blipFill>
          <a:blip r:embed="rId3">
            <a:alphaModFix/>
          </a:blip>
          <a:stretch>
            <a:fillRect/>
          </a:stretch>
        </p:blipFill>
        <p:spPr>
          <a:xfrm>
            <a:off x="1297500" y="1806563"/>
            <a:ext cx="2379399" cy="1530376"/>
          </a:xfrm>
          <a:prstGeom prst="rect">
            <a:avLst/>
          </a:prstGeom>
          <a:noFill/>
          <a:ln>
            <a:noFill/>
          </a:ln>
        </p:spPr>
      </p:pic>
      <p:pic>
        <p:nvPicPr>
          <p:cNvPr id="273" name="Google Shape;273;p33"/>
          <p:cNvPicPr preferRelativeResize="0"/>
          <p:nvPr/>
        </p:nvPicPr>
        <p:blipFill>
          <a:blip r:embed="rId4">
            <a:alphaModFix/>
          </a:blip>
          <a:stretch>
            <a:fillRect/>
          </a:stretch>
        </p:blipFill>
        <p:spPr>
          <a:xfrm>
            <a:off x="4976425" y="1806575"/>
            <a:ext cx="2379401" cy="1553675"/>
          </a:xfrm>
          <a:prstGeom prst="rect">
            <a:avLst/>
          </a:prstGeom>
          <a:noFill/>
          <a:ln>
            <a:noFill/>
          </a:ln>
        </p:spPr>
      </p:pic>
      <p:pic>
        <p:nvPicPr>
          <p:cNvPr id="274" name="Google Shape;274;p33"/>
          <p:cNvPicPr preferRelativeResize="0"/>
          <p:nvPr/>
        </p:nvPicPr>
        <p:blipFill>
          <a:blip r:embed="rId5">
            <a:alphaModFix/>
          </a:blip>
          <a:stretch>
            <a:fillRect/>
          </a:stretch>
        </p:blipFill>
        <p:spPr>
          <a:xfrm>
            <a:off x="1297500" y="3568549"/>
            <a:ext cx="2379401" cy="1548799"/>
          </a:xfrm>
          <a:prstGeom prst="rect">
            <a:avLst/>
          </a:prstGeom>
          <a:noFill/>
          <a:ln>
            <a:noFill/>
          </a:ln>
        </p:spPr>
      </p:pic>
      <p:pic>
        <p:nvPicPr>
          <p:cNvPr id="275" name="Google Shape;275;p33"/>
          <p:cNvPicPr preferRelativeResize="0"/>
          <p:nvPr/>
        </p:nvPicPr>
        <p:blipFill>
          <a:blip r:embed="rId6">
            <a:alphaModFix/>
          </a:blip>
          <a:stretch>
            <a:fillRect/>
          </a:stretch>
        </p:blipFill>
        <p:spPr>
          <a:xfrm>
            <a:off x="4976425" y="3575693"/>
            <a:ext cx="2379399" cy="1534520"/>
          </a:xfrm>
          <a:prstGeom prst="rect">
            <a:avLst/>
          </a:prstGeom>
          <a:noFill/>
          <a:ln>
            <a:noFill/>
          </a:ln>
        </p:spPr>
      </p:pic>
      <p:sp>
        <p:nvSpPr>
          <p:cNvPr id="276" name="Google Shape;276;p33"/>
          <p:cNvSpPr/>
          <p:nvPr/>
        </p:nvSpPr>
        <p:spPr>
          <a:xfrm>
            <a:off x="7536075" y="3336950"/>
            <a:ext cx="903300" cy="999000"/>
          </a:xfrm>
          <a:prstGeom prst="wedgeRoundRectCallout">
            <a:avLst>
              <a:gd fmla="val -82434" name="adj1"/>
              <a:gd fmla="val 26879"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BEST!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HAC (Ward Linkage)</a:t>
            </a:r>
            <a:endParaRPr b="1"/>
          </a:p>
        </p:txBody>
      </p:sp>
      <p:sp>
        <p:nvSpPr>
          <p:cNvPr id="282" name="Google Shape;282;p34"/>
          <p:cNvSpPr txBox="1"/>
          <p:nvPr>
            <p:ph idx="1" type="body"/>
          </p:nvPr>
        </p:nvSpPr>
        <p:spPr>
          <a:xfrm>
            <a:off x="1199175" y="1207025"/>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Performance</a:t>
            </a:r>
            <a:endParaRPr/>
          </a:p>
          <a:p>
            <a:pPr indent="0" lvl="0" marL="0" rtl="0" algn="l">
              <a:spcBef>
                <a:spcPts val="1600"/>
              </a:spcBef>
              <a:spcAft>
                <a:spcPts val="1600"/>
              </a:spcAft>
              <a:buNone/>
            </a:pPr>
            <a:r>
              <a:t/>
            </a:r>
            <a:endParaRPr/>
          </a:p>
        </p:txBody>
      </p:sp>
      <p:graphicFrame>
        <p:nvGraphicFramePr>
          <p:cNvPr id="283" name="Google Shape;283;p34"/>
          <p:cNvGraphicFramePr/>
          <p:nvPr/>
        </p:nvGraphicFramePr>
        <p:xfrm>
          <a:off x="5487625" y="1842675"/>
          <a:ext cx="3000000" cy="3000000"/>
        </p:xfrm>
        <a:graphic>
          <a:graphicData uri="http://schemas.openxmlformats.org/drawingml/2006/table">
            <a:tbl>
              <a:tblPr>
                <a:noFill/>
                <a:tableStyleId>{35F12AA7-5ED4-42AE-AE4E-8AD1302240D3}</a:tableStyleId>
              </a:tblPr>
              <a:tblGrid>
                <a:gridCol w="1974675"/>
                <a:gridCol w="1253625"/>
              </a:tblGrid>
              <a:tr h="381000">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silhouette_score</a:t>
                      </a:r>
                      <a:endParaRPr/>
                    </a:p>
                  </a:txBody>
                  <a:tcPr marT="91425" marB="91425" marR="91425" marL="91425"/>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0.277</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Adjusted Rand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0.790</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Homogeneity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0.790</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Completeness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0.783</a:t>
                      </a:r>
                      <a:endParaRPr sz="1300">
                        <a:solidFill>
                          <a:schemeClr val="lt1"/>
                        </a:solidFill>
                        <a:latin typeface="Lato"/>
                        <a:ea typeface="Lato"/>
                        <a:cs typeface="Lato"/>
                        <a:sym typeface="Lato"/>
                      </a:endParaRPr>
                    </a:p>
                  </a:txBody>
                  <a:tcPr marT="91425" marB="91425" marR="91425" marL="91425"/>
                </a:tc>
              </a:tr>
            </a:tbl>
          </a:graphicData>
        </a:graphic>
      </p:graphicFrame>
      <p:sp>
        <p:nvSpPr>
          <p:cNvPr id="284" name="Google Shape;284;p34"/>
          <p:cNvSpPr/>
          <p:nvPr/>
        </p:nvSpPr>
        <p:spPr>
          <a:xfrm>
            <a:off x="5101625" y="320025"/>
            <a:ext cx="1912200" cy="1270200"/>
          </a:xfrm>
          <a:prstGeom prst="wedgeRoundRectCallout">
            <a:avLst>
              <a:gd fmla="val 67561" name="adj1"/>
              <a:gd fmla="val 75106"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No strong cohesion</a:t>
            </a:r>
            <a:endParaRPr/>
          </a:p>
        </p:txBody>
      </p:sp>
      <p:sp>
        <p:nvSpPr>
          <p:cNvPr id="285" name="Google Shape;285;p34"/>
          <p:cNvSpPr/>
          <p:nvPr/>
        </p:nvSpPr>
        <p:spPr>
          <a:xfrm>
            <a:off x="5487625" y="3740925"/>
            <a:ext cx="2143500" cy="1270200"/>
          </a:xfrm>
          <a:prstGeom prst="wedgeRoundRectCallout">
            <a:avLst>
              <a:gd fmla="val 47375" name="adj1"/>
              <a:gd fmla="val -7488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Worse than K-Means</a:t>
            </a:r>
            <a:endParaRPr/>
          </a:p>
        </p:txBody>
      </p:sp>
      <p:pic>
        <p:nvPicPr>
          <p:cNvPr id="286" name="Google Shape;286;p34"/>
          <p:cNvPicPr preferRelativeResize="0"/>
          <p:nvPr/>
        </p:nvPicPr>
        <p:blipFill>
          <a:blip r:embed="rId3">
            <a:alphaModFix/>
          </a:blip>
          <a:stretch>
            <a:fillRect/>
          </a:stretch>
        </p:blipFill>
        <p:spPr>
          <a:xfrm>
            <a:off x="1199175" y="1842672"/>
            <a:ext cx="4047701" cy="211185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Fuzzy C-Means </a:t>
            </a:r>
            <a:endParaRPr b="1"/>
          </a:p>
          <a:p>
            <a:pPr indent="0" lvl="0" marL="0" rtl="0" algn="l">
              <a:spcBef>
                <a:spcPts val="0"/>
              </a:spcBef>
              <a:spcAft>
                <a:spcPts val="0"/>
              </a:spcAft>
              <a:buNone/>
            </a:pPr>
            <a:r>
              <a:rPr b="1" lang="en"/>
              <a:t>Algorithm</a:t>
            </a:r>
            <a:endParaRPr b="1"/>
          </a:p>
        </p:txBody>
      </p:sp>
      <p:pic>
        <p:nvPicPr>
          <p:cNvPr id="292" name="Google Shape;292;p35"/>
          <p:cNvPicPr preferRelativeResize="0"/>
          <p:nvPr/>
        </p:nvPicPr>
        <p:blipFill>
          <a:blip r:embed="rId3">
            <a:alphaModFix/>
          </a:blip>
          <a:stretch>
            <a:fillRect/>
          </a:stretch>
        </p:blipFill>
        <p:spPr>
          <a:xfrm>
            <a:off x="702050" y="1775026"/>
            <a:ext cx="3294475" cy="2347200"/>
          </a:xfrm>
          <a:prstGeom prst="rect">
            <a:avLst/>
          </a:prstGeom>
          <a:noFill/>
          <a:ln>
            <a:noFill/>
          </a:ln>
        </p:spPr>
      </p:pic>
      <p:pic>
        <p:nvPicPr>
          <p:cNvPr id="293" name="Google Shape;293;p35"/>
          <p:cNvPicPr preferRelativeResize="0"/>
          <p:nvPr/>
        </p:nvPicPr>
        <p:blipFill>
          <a:blip r:embed="rId4">
            <a:alphaModFix/>
          </a:blip>
          <a:stretch>
            <a:fillRect/>
          </a:stretch>
        </p:blipFill>
        <p:spPr>
          <a:xfrm>
            <a:off x="4425575" y="2710925"/>
            <a:ext cx="3294475" cy="2373712"/>
          </a:xfrm>
          <a:prstGeom prst="rect">
            <a:avLst/>
          </a:prstGeom>
          <a:noFill/>
          <a:ln>
            <a:noFill/>
          </a:ln>
        </p:spPr>
      </p:pic>
      <p:pic>
        <p:nvPicPr>
          <p:cNvPr id="294" name="Google Shape;294;p35"/>
          <p:cNvPicPr preferRelativeResize="0"/>
          <p:nvPr/>
        </p:nvPicPr>
        <p:blipFill>
          <a:blip r:embed="rId5">
            <a:alphaModFix/>
          </a:blip>
          <a:stretch>
            <a:fillRect/>
          </a:stretch>
        </p:blipFill>
        <p:spPr>
          <a:xfrm>
            <a:off x="4425575" y="115950"/>
            <a:ext cx="3294475" cy="228527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Fuzzy C-Means</a:t>
            </a:r>
            <a:endParaRPr b="1"/>
          </a:p>
        </p:txBody>
      </p:sp>
      <p:sp>
        <p:nvSpPr>
          <p:cNvPr id="300" name="Google Shape;300;p36"/>
          <p:cNvSpPr txBox="1"/>
          <p:nvPr>
            <p:ph idx="1" type="body"/>
          </p:nvPr>
        </p:nvSpPr>
        <p:spPr>
          <a:xfrm>
            <a:off x="1199175" y="1207025"/>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Performance</a:t>
            </a:r>
            <a:endParaRPr/>
          </a:p>
          <a:p>
            <a:pPr indent="0" lvl="0" marL="0" rtl="0" algn="l">
              <a:spcBef>
                <a:spcPts val="1600"/>
              </a:spcBef>
              <a:spcAft>
                <a:spcPts val="1600"/>
              </a:spcAft>
              <a:buNone/>
            </a:pPr>
            <a:r>
              <a:t/>
            </a:r>
            <a:endParaRPr/>
          </a:p>
        </p:txBody>
      </p:sp>
      <p:graphicFrame>
        <p:nvGraphicFramePr>
          <p:cNvPr id="301" name="Google Shape;301;p36"/>
          <p:cNvGraphicFramePr/>
          <p:nvPr/>
        </p:nvGraphicFramePr>
        <p:xfrm>
          <a:off x="5487625" y="1842675"/>
          <a:ext cx="3000000" cy="3000000"/>
        </p:xfrm>
        <a:graphic>
          <a:graphicData uri="http://schemas.openxmlformats.org/drawingml/2006/table">
            <a:tbl>
              <a:tblPr>
                <a:noFill/>
                <a:tableStyleId>{35F12AA7-5ED4-42AE-AE4E-8AD1302240D3}</a:tableStyleId>
              </a:tblPr>
              <a:tblGrid>
                <a:gridCol w="1974675"/>
                <a:gridCol w="1253625"/>
              </a:tblGrid>
              <a:tr h="381000">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silhouette_score</a:t>
                      </a:r>
                      <a:endParaRPr/>
                    </a:p>
                  </a:txBody>
                  <a:tcPr marT="91425" marB="91425" marR="91425" marL="91425"/>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0.285</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Adjusted Rand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0.897</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Homogeneity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0.879</a:t>
                      </a:r>
                      <a:endParaRPr sz="1300">
                        <a:solidFill>
                          <a:schemeClr val="lt1"/>
                        </a:solidFill>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Completeness Score</a:t>
                      </a:r>
                      <a:endParaRPr sz="1300">
                        <a:solidFill>
                          <a:schemeClr val="lt1"/>
                        </a:solidFill>
                        <a:latin typeface="Lato"/>
                        <a:ea typeface="Lato"/>
                        <a:cs typeface="Lato"/>
                        <a:sym typeface="Lato"/>
                      </a:endParaRPr>
                    </a:p>
                  </a:txBody>
                  <a:tcPr marT="91425" marB="91425" marR="91425" marL="91425"/>
                </a:tc>
                <a:tc>
                  <a:txBody>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0.873</a:t>
                      </a:r>
                      <a:endParaRPr sz="1300">
                        <a:solidFill>
                          <a:schemeClr val="lt1"/>
                        </a:solidFill>
                        <a:latin typeface="Lato"/>
                        <a:ea typeface="Lato"/>
                        <a:cs typeface="Lato"/>
                        <a:sym typeface="Lato"/>
                      </a:endParaRPr>
                    </a:p>
                  </a:txBody>
                  <a:tcPr marT="91425" marB="91425" marR="91425" marL="91425"/>
                </a:tc>
              </a:tr>
            </a:tbl>
          </a:graphicData>
        </a:graphic>
      </p:graphicFrame>
      <p:sp>
        <p:nvSpPr>
          <p:cNvPr id="302" name="Google Shape;302;p36"/>
          <p:cNvSpPr/>
          <p:nvPr/>
        </p:nvSpPr>
        <p:spPr>
          <a:xfrm>
            <a:off x="5101625" y="320025"/>
            <a:ext cx="1912200" cy="1270200"/>
          </a:xfrm>
          <a:prstGeom prst="wedgeRoundRectCallout">
            <a:avLst>
              <a:gd fmla="val 67561" name="adj1"/>
              <a:gd fmla="val 75106"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No strong cohesion</a:t>
            </a:r>
            <a:endParaRPr/>
          </a:p>
        </p:txBody>
      </p:sp>
      <p:sp>
        <p:nvSpPr>
          <p:cNvPr id="303" name="Google Shape;303;p36"/>
          <p:cNvSpPr/>
          <p:nvPr/>
        </p:nvSpPr>
        <p:spPr>
          <a:xfrm>
            <a:off x="5487625" y="3740925"/>
            <a:ext cx="1912200" cy="1270200"/>
          </a:xfrm>
          <a:prstGeom prst="wedgeRoundRectCallout">
            <a:avLst>
              <a:gd fmla="val 47375" name="adj1"/>
              <a:gd fmla="val -7488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Same as K-Means</a:t>
            </a:r>
            <a:endParaRPr/>
          </a:p>
        </p:txBody>
      </p:sp>
      <p:pic>
        <p:nvPicPr>
          <p:cNvPr id="304" name="Google Shape;304;p36"/>
          <p:cNvPicPr preferRelativeResize="0"/>
          <p:nvPr/>
        </p:nvPicPr>
        <p:blipFill>
          <a:blip r:embed="rId3">
            <a:alphaModFix/>
          </a:blip>
          <a:stretch>
            <a:fillRect/>
          </a:stretch>
        </p:blipFill>
        <p:spPr>
          <a:xfrm>
            <a:off x="1199175" y="1842675"/>
            <a:ext cx="4086451" cy="2123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3100"/>
          </a:p>
          <a:p>
            <a:pPr indent="0" lvl="0" marL="0" rtl="0" algn="ctr">
              <a:spcBef>
                <a:spcPts val="1600"/>
              </a:spcBef>
              <a:spcAft>
                <a:spcPts val="0"/>
              </a:spcAft>
              <a:buNone/>
            </a:pPr>
            <a:r>
              <a:rPr b="1" lang="en" sz="3100"/>
              <a:t>7.  Analysis Summary</a:t>
            </a:r>
            <a:endParaRPr b="1" sz="3100"/>
          </a:p>
          <a:p>
            <a:pPr indent="0" lvl="0" marL="0" rtl="0" algn="l">
              <a:spcBef>
                <a:spcPts val="1600"/>
              </a:spcBef>
              <a:spcAft>
                <a:spcPts val="1600"/>
              </a:spcAft>
              <a:buNone/>
            </a:pPr>
            <a:r>
              <a:t/>
            </a:r>
            <a:endParaRPr b="1" sz="3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Model Comparison</a:t>
            </a:r>
            <a:endParaRPr b="1"/>
          </a:p>
        </p:txBody>
      </p:sp>
      <p:sp>
        <p:nvSpPr>
          <p:cNvPr id="316" name="Google Shape;316;p3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17" name="Google Shape;317;p38"/>
          <p:cNvPicPr preferRelativeResize="0"/>
          <p:nvPr/>
        </p:nvPicPr>
        <p:blipFill>
          <a:blip r:embed="rId3">
            <a:alphaModFix/>
          </a:blip>
          <a:stretch>
            <a:fillRect/>
          </a:stretch>
        </p:blipFill>
        <p:spPr>
          <a:xfrm>
            <a:off x="2321290" y="1567548"/>
            <a:ext cx="4991325" cy="2446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Insight Summary</a:t>
            </a:r>
            <a:endParaRPr b="1"/>
          </a:p>
        </p:txBody>
      </p:sp>
      <p:sp>
        <p:nvSpPr>
          <p:cNvPr id="323" name="Google Shape;323;p3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Fuzzy C-Means v.s. K-Means</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For hierarchical clustering, different linkages will lead to different performance.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K-means clustering </a:t>
            </a:r>
            <a:r>
              <a:rPr lang="en"/>
              <a:t>centroids</a:t>
            </a:r>
            <a:r>
              <a:rPr lang="en"/>
              <a:t> lead to future predictions.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329" name="Google Shape;329;p4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t>1] Nath, Ayantika, and Shikha Nema. “Clustering Visualization and Class Prediction Using Flask of Benchmark Dataset for Unsupervised Techniques in Machine Learning.” International Journal of Innovative Technology and Exploring Engineering Regular Issue, vol. 9, no. 7, 2020, pp. 1297–1302., doi:10.35940/ijitee.g5943.059720. (</a:t>
            </a:r>
            <a:r>
              <a:rPr lang="en" sz="900">
                <a:uFill>
                  <a:noFill/>
                </a:uFill>
                <a:hlinkClick r:id="rId3"/>
              </a:rPr>
              <a:t>http://www.ijitee.org/wp-content/uploads/papers/v9i7/G5943059720.pdf</a:t>
            </a:r>
            <a:r>
              <a:rPr lang="en" sz="900"/>
              <a:t>)</a:t>
            </a:r>
            <a:endParaRPr sz="900"/>
          </a:p>
          <a:p>
            <a:pPr indent="0" lvl="0" marL="0" rtl="0" algn="l">
              <a:spcBef>
                <a:spcPts val="1100"/>
              </a:spcBef>
              <a:spcAft>
                <a:spcPts val="0"/>
              </a:spcAft>
              <a:buNone/>
            </a:pPr>
            <a:r>
              <a:rPr lang="en" sz="900"/>
              <a:t>[2] Jankovic, Dina. “K-Means Clustering of Wine Data.” Medium, Towards Data Science, 13 Aug. 2018, towardsdatascience.com/k-means-clustering-of-wine-data-95bac074baae. (</a:t>
            </a:r>
            <a:r>
              <a:rPr lang="en" sz="900">
                <a:uFill>
                  <a:noFill/>
                </a:uFill>
                <a:hlinkClick r:id="rId4"/>
              </a:rPr>
              <a:t>https://towardsdatascience.com/k-means-clustering-of-wine-data-95bac074baae</a:t>
            </a:r>
            <a:r>
              <a:rPr lang="en" sz="900"/>
              <a:t>)</a:t>
            </a:r>
            <a:endParaRPr sz="900"/>
          </a:p>
          <a:p>
            <a:pPr indent="0" lvl="0" marL="0" rtl="0" algn="l">
              <a:spcBef>
                <a:spcPts val="1100"/>
              </a:spcBef>
              <a:spcAft>
                <a:spcPts val="0"/>
              </a:spcAft>
              <a:buNone/>
            </a:pPr>
            <a:r>
              <a:rPr lang="en" sz="900"/>
              <a:t>[3] Bilenko, Mikhail, et al. “Integrating Constraints and Metric Learning in Semi-Supervised Clustering.” Twenty-First International Conference on Machine Learning - ICML '04, 2004, doi:10.1145/1015330.1015360. (</a:t>
            </a:r>
            <a:r>
              <a:rPr lang="en" sz="900">
                <a:uFill>
                  <a:noFill/>
                </a:uFill>
                <a:hlinkClick r:id="rId5"/>
              </a:rPr>
              <a:t>https://www.cs.utexas.edu/~ml/papers/semi-icml-04.pdf</a:t>
            </a:r>
            <a:r>
              <a:rPr lang="en" sz="900"/>
              <a:t>)</a:t>
            </a:r>
            <a:endParaRPr sz="900"/>
          </a:p>
          <a:p>
            <a:pPr indent="0" lvl="0" marL="0" rtl="0" algn="l">
              <a:spcBef>
                <a:spcPts val="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3100"/>
          </a:p>
          <a:p>
            <a:pPr indent="0" lvl="0" marL="0" rtl="0" algn="ctr">
              <a:spcBef>
                <a:spcPts val="1600"/>
              </a:spcBef>
              <a:spcAft>
                <a:spcPts val="1600"/>
              </a:spcAft>
              <a:buNone/>
            </a:pPr>
            <a:r>
              <a:rPr b="1" lang="en" sz="3100"/>
              <a:t>Thanks for watching!</a:t>
            </a:r>
            <a:endParaRPr b="1" sz="3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